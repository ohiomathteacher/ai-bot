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miamioh.edu/academic-affairs/learning-outcomes/ehs-outcomes.html" TargetMode="Externa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miamioh.edu/academic-affairs/learning-outcomes/ehs-outcomes.html" TargetMode="Externa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miamioh.edu/academic-affairs/learning-outcomes/ehs-outcomes.html"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miamioh.edu/academic-affairs/learning-outcomes/ehs-outcomes.html"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Along with Todd and Matthew we completed a 3 hour workshop aimed at “infusing AI into programs” … and there were a dozen departments across the university.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At this stage we are:</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1) Avoiding an all or nothing approach to AI.  How might we approach AI thoughtfully and critically?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2) Remaining focused on the current TCE mission, vision, and threshold concepts.  How might AI help us towards these lofty aims?</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We are considering how AI can be introduced, applied, and ultimately be implemented across the program.  For example, in TCE191 … through a methods component… and into a capstone/student teaching experience.   Just as TCE 191 aims to provide a theoretical and philosophical foundation for students to build their pedagogical actions and intellectual identity through the program, how might AI exposures follow a similar trajectory?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We will be working with Miami leaders throughout Spring 2026 on our answers to their questions and others yet to emerge.</a:t>
            </a:r>
            <a:endParaRPr sz="1500">
              <a:solidFill>
                <a:srgbClr val="222222"/>
              </a:solidFill>
              <a:highlight>
                <a:schemeClr val="lt1"/>
              </a:highlight>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Program learning outcomes:  </a:t>
            </a:r>
            <a:r>
              <a:rPr lang="en" u="sng">
                <a:solidFill>
                  <a:schemeClr val="hlink"/>
                </a:solidFill>
                <a:hlinkClick r:id="rId2"/>
              </a:rPr>
              <a:t>https://miamioh.edu/academic-affairs/learning-outcomes/ehs-outcomes.html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Curriculum map language to map onto the program trajectory:</a:t>
            </a:r>
            <a:endParaRPr/>
          </a:p>
          <a:p>
            <a:pPr indent="-298450" lvl="0" marL="457200" rtl="0" algn="l">
              <a:spcBef>
                <a:spcPts val="0"/>
              </a:spcBef>
              <a:spcAft>
                <a:spcPts val="0"/>
              </a:spcAft>
              <a:buSzPts val="1100"/>
              <a:buChar char="-"/>
            </a:pPr>
            <a:r>
              <a:rPr lang="en"/>
              <a:t>Introduce skill (I) - TCE 191</a:t>
            </a:r>
            <a:endParaRPr/>
          </a:p>
          <a:p>
            <a:pPr indent="-298450" lvl="0" marL="457200" rtl="0" algn="l">
              <a:spcBef>
                <a:spcPts val="0"/>
              </a:spcBef>
              <a:spcAft>
                <a:spcPts val="0"/>
              </a:spcAft>
              <a:buSzPts val="1100"/>
              <a:buChar char="-"/>
            </a:pPr>
            <a:r>
              <a:rPr lang="en"/>
              <a:t>Practice skill (P) - Methods</a:t>
            </a:r>
            <a:endParaRPr/>
          </a:p>
          <a:p>
            <a:pPr indent="-298450" lvl="0" marL="457200" rtl="0" algn="l">
              <a:spcBef>
                <a:spcPts val="0"/>
              </a:spcBef>
              <a:spcAft>
                <a:spcPts val="0"/>
              </a:spcAft>
              <a:buSzPts val="1100"/>
              <a:buChar char="-"/>
            </a:pPr>
            <a:r>
              <a:rPr lang="en"/>
              <a:t>Master (M) - Capstone/Student Teaching</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c71253762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c71253762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Along with Todd and Matthew we completed a 3 hour workshop aimed at “infusing AI into programs” … and there were a dozen departments across the university.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At this stage we are:</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1) Avoiding an all or nothing approach to AI.  How might we approach AI thoughtfully and critically?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2) Remaining focused on the current TCE mission, vision, and threshold concepts.  How might AI help us towards these lofty aims?</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We are considering how AI can be introduced, applied, and ultimately be implemented across the program.  For example, in TCE191 … through a methods component… and into a capstone/student teaching experience.   Just as TCE 191 aims to provide a theoretical and philosophical foundation for students to build their pedagogical actions and intellectual identity through the program, how might AI exposures follow a similar trajectory?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We will be working with Miami leaders throughout Spring 2026 on our answers to their questions and others yet to emerge.</a:t>
            </a:r>
            <a:endParaRPr sz="1500">
              <a:solidFill>
                <a:srgbClr val="222222"/>
              </a:solidFill>
              <a:highlight>
                <a:schemeClr val="lt1"/>
              </a:highlight>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Program learning outcomes:  </a:t>
            </a:r>
            <a:r>
              <a:rPr lang="en" u="sng">
                <a:solidFill>
                  <a:schemeClr val="hlink"/>
                </a:solidFill>
                <a:hlinkClick r:id="rId2"/>
              </a:rPr>
              <a:t>https://miamioh.edu/academic-affairs/learning-outcomes/ehs-outcomes.html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Curriculum map language to map onto the program trajectory:</a:t>
            </a:r>
            <a:endParaRPr/>
          </a:p>
          <a:p>
            <a:pPr indent="-298450" lvl="0" marL="457200" rtl="0" algn="l">
              <a:spcBef>
                <a:spcPts val="0"/>
              </a:spcBef>
              <a:spcAft>
                <a:spcPts val="0"/>
              </a:spcAft>
              <a:buSzPts val="1100"/>
              <a:buChar char="-"/>
            </a:pPr>
            <a:r>
              <a:rPr lang="en"/>
              <a:t>Introduce skill (I) - TCE 191</a:t>
            </a:r>
            <a:endParaRPr/>
          </a:p>
          <a:p>
            <a:pPr indent="-298450" lvl="0" marL="457200" rtl="0" algn="l">
              <a:spcBef>
                <a:spcPts val="0"/>
              </a:spcBef>
              <a:spcAft>
                <a:spcPts val="0"/>
              </a:spcAft>
              <a:buSzPts val="1100"/>
              <a:buChar char="-"/>
            </a:pPr>
            <a:r>
              <a:rPr lang="en"/>
              <a:t>Practice skill (P) - Methods</a:t>
            </a:r>
            <a:endParaRPr/>
          </a:p>
          <a:p>
            <a:pPr indent="-298450" lvl="0" marL="457200" rtl="0" algn="l">
              <a:spcBef>
                <a:spcPts val="0"/>
              </a:spcBef>
              <a:spcAft>
                <a:spcPts val="0"/>
              </a:spcAft>
              <a:buSzPts val="1100"/>
              <a:buChar char="-"/>
            </a:pPr>
            <a:r>
              <a:rPr lang="en"/>
              <a:t>Master (M) - Capstone/Student Teaching</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712537628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712537628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Along with Todd and Matthew we completed a 3 hour workshop aimed at “infusing AI into programs” … and there were a dozen departments across the university.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At this stage we are:</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1) Avoiding an all or nothing approach to AI.  How might we approach AI thoughtfully and critically?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2) Remaining focused on the current TCE mission, vision, and threshold concepts.  How might AI help us towards these lofty aims?</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We are considering how AI can be introduced, applied, and ultimately be implemented across the program.  For example, in TCE191 … through a methods component… and into a capstone/student teaching experience.   Just as TCE 191 aims to provide a theoretical and philosophical foundation for students to build their pedagogical actions and intellectual identity through the program, how might AI exposures follow a similar trajectory?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We will be working with Miami leaders throughout Spring 2026 on our answers to their questions and others yet to emerge.</a:t>
            </a:r>
            <a:endParaRPr sz="1500">
              <a:solidFill>
                <a:srgbClr val="222222"/>
              </a:solidFill>
              <a:highlight>
                <a:schemeClr val="lt1"/>
              </a:highlight>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Program learning outcomes:  </a:t>
            </a:r>
            <a:r>
              <a:rPr lang="en" u="sng">
                <a:solidFill>
                  <a:schemeClr val="hlink"/>
                </a:solidFill>
                <a:hlinkClick r:id="rId2"/>
              </a:rPr>
              <a:t>https://miamioh.edu/academic-affairs/learning-outcomes/ehs-outcomes.html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Curriculum map language to map onto the program trajectory:</a:t>
            </a:r>
            <a:endParaRPr/>
          </a:p>
          <a:p>
            <a:pPr indent="-298450" lvl="0" marL="457200" rtl="0" algn="l">
              <a:spcBef>
                <a:spcPts val="0"/>
              </a:spcBef>
              <a:spcAft>
                <a:spcPts val="0"/>
              </a:spcAft>
              <a:buSzPts val="1100"/>
              <a:buChar char="-"/>
            </a:pPr>
            <a:r>
              <a:rPr lang="en"/>
              <a:t>Introduce skill (I) - TCE 191</a:t>
            </a:r>
            <a:endParaRPr/>
          </a:p>
          <a:p>
            <a:pPr indent="-298450" lvl="0" marL="457200" rtl="0" algn="l">
              <a:spcBef>
                <a:spcPts val="0"/>
              </a:spcBef>
              <a:spcAft>
                <a:spcPts val="0"/>
              </a:spcAft>
              <a:buSzPts val="1100"/>
              <a:buChar char="-"/>
            </a:pPr>
            <a:r>
              <a:rPr lang="en"/>
              <a:t>Practice skill (P) - Methods</a:t>
            </a:r>
            <a:endParaRPr/>
          </a:p>
          <a:p>
            <a:pPr indent="-298450" lvl="0" marL="457200" rtl="0" algn="l">
              <a:spcBef>
                <a:spcPts val="0"/>
              </a:spcBef>
              <a:spcAft>
                <a:spcPts val="0"/>
              </a:spcAft>
              <a:buSzPts val="1100"/>
              <a:buChar char="-"/>
            </a:pPr>
            <a:r>
              <a:rPr lang="en"/>
              <a:t>Master (M) - Capstone/Student Teaching</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c712537628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c712537628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Along with Todd and Matthew we completed a 3 hour workshop aimed at “infusing AI into programs” … and there were a dozen departments across the university.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At this stage we are:</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1) Avoiding an all or nothing approach to AI.  How might we approach AI thoughtfully and critically?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2) Remaining focused on the current TCE mission, vision, and threshold concepts.  How might AI help us towards these lofty aims?</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We are considering how AI can be introduced, applied, and ultimately be implemented across the program.  For example, in TCE191 … through a methods component… and into a capstone/student teaching experience.   Just as TCE 191 aims to provide a theoretical and philosophical foundation for students to build their pedagogical actions and intellectual identity through the program, how might AI exposures follow a similar trajectory?</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t/>
            </a:r>
            <a:endParaRPr sz="1500">
              <a:solidFill>
                <a:srgbClr val="222222"/>
              </a:solidFill>
              <a:highlight>
                <a:schemeClr val="lt1"/>
              </a:highlight>
            </a:endParaRPr>
          </a:p>
          <a:p>
            <a:pPr indent="0" lvl="0" marL="0" rtl="0" algn="l">
              <a:spcBef>
                <a:spcPts val="0"/>
              </a:spcBef>
              <a:spcAft>
                <a:spcPts val="0"/>
              </a:spcAft>
              <a:buClr>
                <a:schemeClr val="dk1"/>
              </a:buClr>
              <a:buSzPts val="1100"/>
              <a:buFont typeface="Arial"/>
              <a:buNone/>
            </a:pPr>
            <a:r>
              <a:rPr lang="en" sz="1500">
                <a:solidFill>
                  <a:srgbClr val="222222"/>
                </a:solidFill>
                <a:highlight>
                  <a:schemeClr val="lt1"/>
                </a:highlight>
              </a:rPr>
              <a:t>We will be working with Miami leaders throughout Spring 2026 on our answers to their questions and others yet to emerge.</a:t>
            </a:r>
            <a:endParaRPr sz="1500">
              <a:solidFill>
                <a:srgbClr val="222222"/>
              </a:solidFill>
              <a:highlight>
                <a:schemeClr val="lt1"/>
              </a:highlight>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Program learning outcomes:  </a:t>
            </a:r>
            <a:r>
              <a:rPr lang="en" u="sng">
                <a:solidFill>
                  <a:schemeClr val="hlink"/>
                </a:solidFill>
                <a:hlinkClick r:id="rId2"/>
              </a:rPr>
              <a:t>https://miamioh.edu/academic-affairs/learning-outcomes/ehs-outcomes.html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Curriculum map language to map onto the program trajectory:</a:t>
            </a:r>
            <a:endParaRPr/>
          </a:p>
          <a:p>
            <a:pPr indent="-298450" lvl="0" marL="457200" rtl="0" algn="l">
              <a:spcBef>
                <a:spcPts val="0"/>
              </a:spcBef>
              <a:spcAft>
                <a:spcPts val="0"/>
              </a:spcAft>
              <a:buSzPts val="1100"/>
              <a:buChar char="-"/>
            </a:pPr>
            <a:r>
              <a:rPr lang="en"/>
              <a:t>Introduce skill (I) - TCE 191</a:t>
            </a:r>
            <a:endParaRPr/>
          </a:p>
          <a:p>
            <a:pPr indent="-298450" lvl="0" marL="457200" rtl="0" algn="l">
              <a:spcBef>
                <a:spcPts val="0"/>
              </a:spcBef>
              <a:spcAft>
                <a:spcPts val="0"/>
              </a:spcAft>
              <a:buSzPts val="1100"/>
              <a:buChar char="-"/>
            </a:pPr>
            <a:r>
              <a:rPr lang="en"/>
              <a:t>Practice skill (P) - Methods</a:t>
            </a:r>
            <a:endParaRPr/>
          </a:p>
          <a:p>
            <a:pPr indent="-298450" lvl="0" marL="457200" rtl="0" algn="l">
              <a:spcBef>
                <a:spcPts val="0"/>
              </a:spcBef>
              <a:spcAft>
                <a:spcPts val="0"/>
              </a:spcAft>
              <a:buSzPts val="1100"/>
              <a:buChar char="-"/>
            </a:pPr>
            <a:r>
              <a:rPr lang="en"/>
              <a:t>Master (M) - Capstone/Student Teaching</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b956257ba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b956257ba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g3b956257b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g3b956257b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b956257ba0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b956257ba0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Figure 1 Image Description A circle with 4 points at the top, bottom, left side, and right side, as well as a smaller circle at the center which reads “GenAI Literacy.” Within the larger circle, each quadrant has a gradient color that blends with the colors of each adjacent quadrant. The 4 points of the circle represent four AI literacy skill areas: Awareness (what GenAI is, how it works, how it came to be), Application (how to use GenAI tools in various tasks and use cases), Accountability (acting responsibly with AI and AI-influenced content/interactions), and Agency (retaining sense of control, authenticity, and purpose). Between each of these points are example topics that sit in between these skill areas. Between Awareness (top) and Application (left), topics include history and types of AI, model bias and limitations, and principles of prompting. Between Application (left) and Accountability March 2025 This work is licensed under CC BY-NC-ND 4.0 (bottom), topics include critical evaluation of output and attribution and academic integrity. Between Accountability (bottom) and Agency (right), the topic includes making ethical choices. Between Agency (right) and Awareness (top), topics include consumer choice and advocacy and alignment to personal values. The larger circle is outlined with a dotted line and the words “Scaffolded Opportunities,” indicating that scaffolded opportunities encircle the framework and can apply to all four skill areas and the topics in between.</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b956257ba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3b956257ba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bf02ad721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bf02ad721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Compass Points to Orient AI in TCE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bce13ef56a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bce13ef56a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$1000 funds to support the AI work … “demonstrate” across the TCE program</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hyperlink" Target="https://miamioh.edu/academic-affairs/learning-outcomes/ehs-outcomes.html" TargetMode="External"/><Relationship Id="rId4" Type="http://schemas.openxmlformats.org/officeDocument/2006/relationships/hyperlink" Target="https://docs.google.com/document/d/1Q3b8C50rl-JRHaZp0gtYerqMRFqPD1shyrm_7dGkB8A/edit?tab=t.0#heading=h.z227kkoncvtc"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p:cNvPicPr preferRelativeResize="0"/>
          <p:nvPr/>
        </p:nvPicPr>
        <p:blipFill>
          <a:blip r:embed="rId3">
            <a:alphaModFix/>
          </a:blip>
          <a:stretch>
            <a:fillRect/>
          </a:stretch>
        </p:blipFill>
        <p:spPr>
          <a:xfrm>
            <a:off x="179425" y="146338"/>
            <a:ext cx="8623700" cy="4850824"/>
          </a:xfrm>
          <a:prstGeom prst="rect">
            <a:avLst/>
          </a:prstGeom>
          <a:noFill/>
          <a:ln>
            <a:noFill/>
          </a:ln>
        </p:spPr>
      </p:pic>
      <p:sp>
        <p:nvSpPr>
          <p:cNvPr id="55" name="Google Shape;55;p13"/>
          <p:cNvSpPr txBox="1"/>
          <p:nvPr/>
        </p:nvSpPr>
        <p:spPr>
          <a:xfrm>
            <a:off x="2668225" y="214325"/>
            <a:ext cx="5679300" cy="546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800">
                <a:solidFill>
                  <a:schemeClr val="dk2"/>
                </a:solidFill>
              </a:rPr>
              <a:t>How might AI assist both TCE faculty and students in this 4 year </a:t>
            </a:r>
            <a:r>
              <a:rPr b="1" lang="en" sz="1800">
                <a:solidFill>
                  <a:schemeClr val="dk2"/>
                </a:solidFill>
              </a:rPr>
              <a:t>transformational</a:t>
            </a:r>
            <a:r>
              <a:rPr b="1" lang="en" sz="1800">
                <a:solidFill>
                  <a:schemeClr val="dk2"/>
                </a:solidFill>
              </a:rPr>
              <a:t> process?</a:t>
            </a:r>
            <a:endParaRPr b="1" sz="1800">
              <a:solidFill>
                <a:schemeClr val="dk2"/>
              </a:solidFill>
            </a:endParaRPr>
          </a:p>
        </p:txBody>
      </p:sp>
      <p:sp>
        <p:nvSpPr>
          <p:cNvPr id="56" name="Google Shape;56;p13"/>
          <p:cNvSpPr txBox="1"/>
          <p:nvPr/>
        </p:nvSpPr>
        <p:spPr>
          <a:xfrm>
            <a:off x="439350" y="4093375"/>
            <a:ext cx="8422500" cy="546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2"/>
                </a:solidFill>
              </a:rPr>
              <a:t>The “work” is the same “to create critically conscious curriculum makers” … yet how might we leverage AI to accomplish this goal?  What can AI offer faculty and students that we can’t do without it?</a:t>
            </a:r>
            <a:endParaRPr>
              <a:solidFill>
                <a:schemeClr val="dk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p:cNvPicPr preferRelativeResize="0"/>
          <p:nvPr/>
        </p:nvPicPr>
        <p:blipFill>
          <a:blip r:embed="rId3">
            <a:alphaModFix/>
          </a:blip>
          <a:stretch>
            <a:fillRect/>
          </a:stretch>
        </p:blipFill>
        <p:spPr>
          <a:xfrm>
            <a:off x="132125" y="146338"/>
            <a:ext cx="8623700" cy="4850824"/>
          </a:xfrm>
          <a:prstGeom prst="rect">
            <a:avLst/>
          </a:prstGeom>
          <a:noFill/>
          <a:ln>
            <a:noFill/>
          </a:ln>
        </p:spPr>
      </p:pic>
      <p:sp>
        <p:nvSpPr>
          <p:cNvPr id="62" name="Google Shape;62;p14"/>
          <p:cNvSpPr txBox="1"/>
          <p:nvPr/>
        </p:nvSpPr>
        <p:spPr>
          <a:xfrm>
            <a:off x="2668225" y="214325"/>
            <a:ext cx="5679300" cy="546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800">
                <a:solidFill>
                  <a:schemeClr val="dk2"/>
                </a:solidFill>
              </a:rPr>
              <a:t>How might AI assist both TCE faculty and students in this 4 year transformational process?</a:t>
            </a:r>
            <a:endParaRPr b="1" sz="1800">
              <a:solidFill>
                <a:schemeClr val="dk2"/>
              </a:solidFill>
            </a:endParaRPr>
          </a:p>
        </p:txBody>
      </p:sp>
      <p:sp>
        <p:nvSpPr>
          <p:cNvPr id="63" name="Google Shape;63;p14"/>
          <p:cNvSpPr txBox="1"/>
          <p:nvPr/>
        </p:nvSpPr>
        <p:spPr>
          <a:xfrm>
            <a:off x="439350" y="4093375"/>
            <a:ext cx="8422500" cy="546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2"/>
                </a:solidFill>
              </a:rPr>
              <a:t>The “work” is the same “to create critically conscious curriculum makers” … yet how might we leverage AI to accomplish this goal?  What can AI offer faculty and students that we can’t do without it?</a:t>
            </a:r>
            <a:endParaRPr>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5"/>
          <p:cNvSpPr txBox="1"/>
          <p:nvPr/>
        </p:nvSpPr>
        <p:spPr>
          <a:xfrm>
            <a:off x="2668225" y="214325"/>
            <a:ext cx="5679300" cy="546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800">
                <a:solidFill>
                  <a:schemeClr val="dk2"/>
                </a:solidFill>
              </a:rPr>
              <a:t>How might AI assist both TCE faculty and students in this 4 year transformational process?</a:t>
            </a:r>
            <a:endParaRPr b="1" sz="1800">
              <a:solidFill>
                <a:schemeClr val="dk2"/>
              </a:solidFill>
            </a:endParaRPr>
          </a:p>
        </p:txBody>
      </p:sp>
      <p:sp>
        <p:nvSpPr>
          <p:cNvPr id="69" name="Google Shape;69;p15"/>
          <p:cNvSpPr txBox="1"/>
          <p:nvPr/>
        </p:nvSpPr>
        <p:spPr>
          <a:xfrm>
            <a:off x="439350" y="4093375"/>
            <a:ext cx="8422500" cy="546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2"/>
                </a:solidFill>
              </a:rPr>
              <a:t>The “work” is the same “to create critically conscious curriculum makers” … yet how might we leverage AI to accomplish this goal?  What can AI offer faculty and students that we can’t do without it?</a:t>
            </a:r>
            <a:endParaRPr>
              <a:solidFill>
                <a:schemeClr val="dk2"/>
              </a:solidFill>
            </a:endParaRPr>
          </a:p>
        </p:txBody>
      </p:sp>
      <p:pic>
        <p:nvPicPr>
          <p:cNvPr id="70" name="Google Shape;70;p15"/>
          <p:cNvPicPr preferRelativeResize="0"/>
          <p:nvPr/>
        </p:nvPicPr>
        <p:blipFill>
          <a:blip r:embed="rId3">
            <a:alphaModFix/>
          </a:blip>
          <a:stretch>
            <a:fillRect/>
          </a:stretch>
        </p:blipFill>
        <p:spPr>
          <a:xfrm>
            <a:off x="439350" y="603250"/>
            <a:ext cx="2123335" cy="3788575"/>
          </a:xfrm>
          <a:prstGeom prst="rect">
            <a:avLst/>
          </a:prstGeom>
          <a:noFill/>
          <a:ln>
            <a:noFill/>
          </a:ln>
        </p:spPr>
      </p:pic>
      <p:pic>
        <p:nvPicPr>
          <p:cNvPr id="71" name="Google Shape;71;p15"/>
          <p:cNvPicPr preferRelativeResize="0"/>
          <p:nvPr/>
        </p:nvPicPr>
        <p:blipFill>
          <a:blip r:embed="rId4">
            <a:alphaModFix/>
          </a:blip>
          <a:stretch>
            <a:fillRect/>
          </a:stretch>
        </p:blipFill>
        <p:spPr>
          <a:xfrm>
            <a:off x="2715085" y="913325"/>
            <a:ext cx="4947438" cy="30276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6"/>
          <p:cNvSpPr txBox="1"/>
          <p:nvPr/>
        </p:nvSpPr>
        <p:spPr>
          <a:xfrm>
            <a:off x="2668225" y="214325"/>
            <a:ext cx="5679300" cy="546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800">
                <a:solidFill>
                  <a:schemeClr val="dk2"/>
                </a:solidFill>
              </a:rPr>
              <a:t>How might AI assist both TCE faculty and students in this 4 year transformational process?</a:t>
            </a:r>
            <a:endParaRPr b="1" sz="1800">
              <a:solidFill>
                <a:schemeClr val="dk2"/>
              </a:solidFill>
            </a:endParaRPr>
          </a:p>
        </p:txBody>
      </p:sp>
      <p:sp>
        <p:nvSpPr>
          <p:cNvPr id="77" name="Google Shape;77;p16"/>
          <p:cNvSpPr txBox="1"/>
          <p:nvPr/>
        </p:nvSpPr>
        <p:spPr>
          <a:xfrm>
            <a:off x="439350" y="4093375"/>
            <a:ext cx="8422500" cy="546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2"/>
                </a:solidFill>
              </a:rPr>
              <a:t>The “work” is the same “to create critically conscious curriculum makers” … yet how might we leverage AI to accomplish this goal?  What can AI offer faculty and students that we can’t do without it?</a:t>
            </a:r>
            <a:endParaRPr>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nvSpPr>
        <p:spPr>
          <a:xfrm>
            <a:off x="0" y="0"/>
            <a:ext cx="8904600" cy="4626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450">
                <a:solidFill>
                  <a:schemeClr val="dk1"/>
                </a:solidFill>
                <a:latin typeface="Times New Roman"/>
                <a:ea typeface="Times New Roman"/>
                <a:cs typeface="Times New Roman"/>
                <a:sym typeface="Times New Roman"/>
              </a:rPr>
              <a:t>P</a:t>
            </a:r>
            <a:r>
              <a:rPr lang="en" sz="1450">
                <a:latin typeface="Times New Roman"/>
                <a:ea typeface="Times New Roman"/>
                <a:cs typeface="Times New Roman"/>
                <a:sym typeface="Times New Roman"/>
              </a:rPr>
              <a:t>K5</a:t>
            </a:r>
            <a:endParaRPr sz="1450">
              <a:latin typeface="Times New Roman"/>
              <a:ea typeface="Times New Roman"/>
              <a:cs typeface="Times New Roman"/>
              <a:sym typeface="Times New Roman"/>
            </a:endParaRPr>
          </a:p>
          <a:p>
            <a:pPr indent="0" lvl="0" marL="0" rtl="0" algn="l">
              <a:lnSpc>
                <a:spcPct val="115000"/>
              </a:lnSpc>
              <a:spcBef>
                <a:spcPts val="1500"/>
              </a:spcBef>
              <a:spcAft>
                <a:spcPts val="0"/>
              </a:spcAft>
              <a:buNone/>
            </a:pPr>
            <a:r>
              <a:rPr lang="en" sz="1450">
                <a:latin typeface="Times New Roman"/>
                <a:ea typeface="Times New Roman"/>
                <a:cs typeface="Times New Roman"/>
                <a:sym typeface="Times New Roman"/>
              </a:rPr>
              <a:t>At the end of this program students will be able to:</a:t>
            </a:r>
            <a:endParaRPr sz="1450">
              <a:latin typeface="Times New Roman"/>
              <a:ea typeface="Times New Roman"/>
              <a:cs typeface="Times New Roman"/>
              <a:sym typeface="Times New Roman"/>
            </a:endParaRPr>
          </a:p>
          <a:p>
            <a:pPr indent="-320675" lvl="0" marL="457200" rtl="0" algn="l">
              <a:lnSpc>
                <a:spcPct val="115000"/>
              </a:lnSpc>
              <a:spcBef>
                <a:spcPts val="1500"/>
              </a:spcBef>
              <a:spcAft>
                <a:spcPts val="0"/>
              </a:spcAft>
              <a:buClr>
                <a:schemeClr val="dk1"/>
              </a:buClr>
              <a:buSzPts val="1450"/>
              <a:buFont typeface="Times New Roman"/>
              <a:buChar char="❏"/>
            </a:pPr>
            <a:r>
              <a:rPr lang="en" sz="1450">
                <a:latin typeface="Times New Roman"/>
                <a:ea typeface="Times New Roman"/>
                <a:cs typeface="Times New Roman"/>
                <a:sym typeface="Times New Roman"/>
              </a:rPr>
              <a:t>Describe and utilize theories and principles of justice, equity, and democratic life relevant to the problems of P-5 classrooms, schools, families, and community.</a:t>
            </a:r>
            <a:endParaRPr sz="1450">
              <a:latin typeface="Times New Roman"/>
              <a:ea typeface="Times New Roman"/>
              <a:cs typeface="Times New Roman"/>
              <a:sym typeface="Times New Roman"/>
            </a:endParaRPr>
          </a:p>
          <a:p>
            <a:pPr indent="-320675" lvl="0" marL="457200" rtl="0" algn="l">
              <a:lnSpc>
                <a:spcPct val="157241"/>
              </a:lnSpc>
              <a:spcBef>
                <a:spcPts val="0"/>
              </a:spcBef>
              <a:spcAft>
                <a:spcPts val="0"/>
              </a:spcAft>
              <a:buClr>
                <a:srgbClr val="000000"/>
              </a:buClr>
              <a:buSzPts val="1450"/>
              <a:buFont typeface="Times New Roman"/>
              <a:buChar char="❏"/>
            </a:pPr>
            <a:r>
              <a:rPr lang="en" sz="1450">
                <a:latin typeface="Times New Roman"/>
                <a:ea typeface="Times New Roman"/>
                <a:cs typeface="Times New Roman"/>
                <a:sym typeface="Times New Roman"/>
              </a:rPr>
              <a:t>Develop and articulate to others an intellectual/scholarly identity toward various ways of knowing, learning, reflecting and acting as pedagogues. </a:t>
            </a:r>
            <a:endParaRPr sz="1450">
              <a:latin typeface="Times New Roman"/>
              <a:ea typeface="Times New Roman"/>
              <a:cs typeface="Times New Roman"/>
              <a:sym typeface="Times New Roman"/>
            </a:endParaRPr>
          </a:p>
          <a:p>
            <a:pPr indent="-320675" lvl="0" marL="457200" rtl="0" algn="l">
              <a:lnSpc>
                <a:spcPct val="157241"/>
              </a:lnSpc>
              <a:spcBef>
                <a:spcPts val="0"/>
              </a:spcBef>
              <a:spcAft>
                <a:spcPts val="0"/>
              </a:spcAft>
              <a:buClr>
                <a:srgbClr val="000000"/>
              </a:buClr>
              <a:buSzPts val="1450"/>
              <a:buFont typeface="Times New Roman"/>
              <a:buChar char="❏"/>
            </a:pPr>
            <a:r>
              <a:rPr lang="en" sz="1450">
                <a:latin typeface="Times New Roman"/>
                <a:ea typeface="Times New Roman"/>
                <a:cs typeface="Times New Roman"/>
                <a:sym typeface="Times New Roman"/>
              </a:rPr>
              <a:t>Use conceptions of cultural identity and cultural diversity to work in solidarity with diverse individuals, families, and communities in their school and community.</a:t>
            </a:r>
            <a:endParaRPr sz="1450">
              <a:latin typeface="Times New Roman"/>
              <a:ea typeface="Times New Roman"/>
              <a:cs typeface="Times New Roman"/>
              <a:sym typeface="Times New Roman"/>
            </a:endParaRPr>
          </a:p>
          <a:p>
            <a:pPr indent="-320675" lvl="0" marL="457200" rtl="0" algn="l">
              <a:lnSpc>
                <a:spcPct val="157241"/>
              </a:lnSpc>
              <a:spcBef>
                <a:spcPts val="0"/>
              </a:spcBef>
              <a:spcAft>
                <a:spcPts val="0"/>
              </a:spcAft>
              <a:buClr>
                <a:srgbClr val="000000"/>
              </a:buClr>
              <a:buSzPts val="1450"/>
              <a:buFont typeface="Times New Roman"/>
              <a:buChar char="❏"/>
            </a:pPr>
            <a:r>
              <a:rPr lang="en" sz="1450">
                <a:latin typeface="Times New Roman"/>
                <a:ea typeface="Times New Roman"/>
                <a:cs typeface="Times New Roman"/>
                <a:sym typeface="Times New Roman"/>
              </a:rPr>
              <a:t>Critically examine theories of critical literacies toward applied analysis of problems of practice.</a:t>
            </a:r>
            <a:endParaRPr sz="1450">
              <a:latin typeface="Times New Roman"/>
              <a:ea typeface="Times New Roman"/>
              <a:cs typeface="Times New Roman"/>
              <a:sym typeface="Times New Roman"/>
            </a:endParaRPr>
          </a:p>
          <a:p>
            <a:pPr indent="-320675" lvl="0" marL="457200" rtl="0" algn="l">
              <a:lnSpc>
                <a:spcPct val="157241"/>
              </a:lnSpc>
              <a:spcBef>
                <a:spcPts val="0"/>
              </a:spcBef>
              <a:spcAft>
                <a:spcPts val="0"/>
              </a:spcAft>
              <a:buClr>
                <a:srgbClr val="000000"/>
              </a:buClr>
              <a:buSzPts val="1450"/>
              <a:buFont typeface="Times New Roman"/>
              <a:buChar char="❏"/>
            </a:pPr>
            <a:r>
              <a:rPr lang="en" sz="1450">
                <a:latin typeface="Times New Roman"/>
                <a:ea typeface="Times New Roman"/>
                <a:cs typeface="Times New Roman"/>
                <a:sym typeface="Times New Roman"/>
              </a:rPr>
              <a:t>Demonstrate an understanding of technological literacies for school and community leadership.</a:t>
            </a:r>
            <a:endParaRPr sz="1450">
              <a:latin typeface="Times New Roman"/>
              <a:ea typeface="Times New Roman"/>
              <a:cs typeface="Times New Roman"/>
              <a:sym typeface="Times New Roman"/>
            </a:endParaRPr>
          </a:p>
          <a:p>
            <a:pPr indent="-320675" lvl="0" marL="457200" rtl="0" algn="l">
              <a:lnSpc>
                <a:spcPct val="157241"/>
              </a:lnSpc>
              <a:spcBef>
                <a:spcPts val="0"/>
              </a:spcBef>
              <a:spcAft>
                <a:spcPts val="0"/>
              </a:spcAft>
              <a:buClr>
                <a:srgbClr val="000000"/>
              </a:buClr>
              <a:buSzPts val="1450"/>
              <a:buFont typeface="Times New Roman"/>
              <a:buChar char="❏"/>
            </a:pPr>
            <a:r>
              <a:rPr lang="en" sz="1450">
                <a:latin typeface="Times New Roman"/>
                <a:ea typeface="Times New Roman"/>
                <a:cs typeface="Times New Roman"/>
                <a:sym typeface="Times New Roman"/>
              </a:rPr>
              <a:t>Select, develop and implement formative and summative assessments to evaluate student understandings to inform instruction.</a:t>
            </a:r>
            <a:endParaRPr sz="1450">
              <a:latin typeface="Times New Roman"/>
              <a:ea typeface="Times New Roman"/>
              <a:cs typeface="Times New Roman"/>
              <a:sym typeface="Times New Roman"/>
            </a:endParaRPr>
          </a:p>
          <a:p>
            <a:pPr indent="-320675" lvl="0" marL="457200" rtl="0" algn="l">
              <a:lnSpc>
                <a:spcPct val="157241"/>
              </a:lnSpc>
              <a:spcBef>
                <a:spcPts val="0"/>
              </a:spcBef>
              <a:spcAft>
                <a:spcPts val="0"/>
              </a:spcAft>
              <a:buClr>
                <a:srgbClr val="000000"/>
              </a:buClr>
              <a:buSzPts val="1450"/>
              <a:buFont typeface="Times New Roman"/>
              <a:buChar char="❏"/>
            </a:pPr>
            <a:r>
              <a:rPr lang="en" sz="1450">
                <a:latin typeface="Times New Roman"/>
                <a:ea typeface="Times New Roman"/>
                <a:cs typeface="Times New Roman"/>
                <a:sym typeface="Times New Roman"/>
              </a:rPr>
              <a:t>Apply critical lens to see power &amp; privilege and the consequences within and beyond educational contexts</a:t>
            </a:r>
            <a:endParaRPr sz="1450">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pic>
        <p:nvPicPr>
          <p:cNvPr id="87" name="Google Shape;87;p18"/>
          <p:cNvPicPr preferRelativeResize="0"/>
          <p:nvPr/>
        </p:nvPicPr>
        <p:blipFill>
          <a:blip r:embed="rId3">
            <a:alphaModFix/>
          </a:blip>
          <a:stretch>
            <a:fillRect/>
          </a:stretch>
        </p:blipFill>
        <p:spPr>
          <a:xfrm>
            <a:off x="152400" y="152400"/>
            <a:ext cx="8839200" cy="465221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9"/>
          <p:cNvPicPr preferRelativeResize="0"/>
          <p:nvPr/>
        </p:nvPicPr>
        <p:blipFill>
          <a:blip r:embed="rId3">
            <a:alphaModFix/>
          </a:blip>
          <a:stretch>
            <a:fillRect/>
          </a:stretch>
        </p:blipFill>
        <p:spPr>
          <a:xfrm>
            <a:off x="2091925" y="152400"/>
            <a:ext cx="5740944" cy="48387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pic>
        <p:nvPicPr>
          <p:cNvPr id="97" name="Google Shape;97;p20"/>
          <p:cNvPicPr preferRelativeResize="0"/>
          <p:nvPr/>
        </p:nvPicPr>
        <p:blipFill>
          <a:blip r:embed="rId3">
            <a:alphaModFix/>
          </a:blip>
          <a:stretch>
            <a:fillRect/>
          </a:stretch>
        </p:blipFill>
        <p:spPr>
          <a:xfrm>
            <a:off x="152400" y="152400"/>
            <a:ext cx="8839201" cy="451302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2"/>
          <p:cNvSpPr txBox="1"/>
          <p:nvPr/>
        </p:nvSpPr>
        <p:spPr>
          <a:xfrm>
            <a:off x="369950" y="279725"/>
            <a:ext cx="8103300" cy="442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dk2"/>
                </a:solidFill>
              </a:rPr>
              <a:t>Parking Lot of Ideas:</a:t>
            </a:r>
            <a:endParaRPr sz="1800">
              <a:solidFill>
                <a:schemeClr val="dk2"/>
              </a:solidFill>
            </a:endParaRPr>
          </a:p>
        </p:txBody>
      </p:sp>
      <p:sp>
        <p:nvSpPr>
          <p:cNvPr id="107" name="Google Shape;107;p22"/>
          <p:cNvSpPr txBox="1"/>
          <p:nvPr/>
        </p:nvSpPr>
        <p:spPr>
          <a:xfrm>
            <a:off x="550450" y="1118925"/>
            <a:ext cx="8103300" cy="2427300"/>
          </a:xfrm>
          <a:prstGeom prst="rect">
            <a:avLst/>
          </a:prstGeom>
          <a:noFill/>
          <a:ln>
            <a:noFill/>
          </a:ln>
        </p:spPr>
        <p:txBody>
          <a:bodyPr anchorCtr="0" anchor="t" bIns="91425" lIns="91425" spcFirstLastPara="1" rIns="91425" wrap="square" tIns="91425">
            <a:noAutofit/>
          </a:bodyPr>
          <a:lstStyle/>
          <a:p>
            <a:pPr indent="-342900" lvl="0" marL="457200" rtl="0" algn="l">
              <a:spcBef>
                <a:spcPts val="0"/>
              </a:spcBef>
              <a:spcAft>
                <a:spcPts val="0"/>
              </a:spcAft>
              <a:buClr>
                <a:schemeClr val="dk2"/>
              </a:buClr>
              <a:buSzPts val="1800"/>
              <a:buAutoNum type="arabicParenR"/>
            </a:pPr>
            <a:r>
              <a:rPr lang="en" sz="1800">
                <a:solidFill>
                  <a:schemeClr val="dk2"/>
                </a:solidFill>
              </a:rPr>
              <a:t>Survey and/or Focus group for current adjuncts who are PK12 teachers - How are you using AI on a daily basis?</a:t>
            </a:r>
            <a:endParaRPr sz="1800">
              <a:solidFill>
                <a:schemeClr val="dk2"/>
              </a:solidFill>
            </a:endParaRPr>
          </a:p>
          <a:p>
            <a:pPr indent="-342900" lvl="0" marL="457200" rtl="0" algn="l">
              <a:spcBef>
                <a:spcPts val="0"/>
              </a:spcBef>
              <a:spcAft>
                <a:spcPts val="0"/>
              </a:spcAft>
              <a:buClr>
                <a:schemeClr val="dk2"/>
              </a:buClr>
              <a:buSzPts val="1800"/>
              <a:buAutoNum type="arabicParenR"/>
            </a:pPr>
            <a:r>
              <a:t/>
            </a:r>
            <a:endParaRPr sz="1800">
              <a:solidFill>
                <a:schemeClr val="dk2"/>
              </a:solidFill>
            </a:endParaRPr>
          </a:p>
          <a:p>
            <a:pPr indent="0" lvl="0" marL="0" rtl="0" algn="l">
              <a:spcBef>
                <a:spcPts val="0"/>
              </a:spcBef>
              <a:spcAft>
                <a:spcPts val="0"/>
              </a:spcAft>
              <a:buNone/>
            </a:pPr>
            <a:r>
              <a:t/>
            </a:r>
            <a:endParaRPr sz="1800">
              <a:solidFill>
                <a:schemeClr val="dk2"/>
              </a:solidFill>
            </a:endParaRPr>
          </a:p>
          <a:p>
            <a:pPr indent="0" lvl="0" marL="0" rtl="0" algn="l">
              <a:spcBef>
                <a:spcPts val="0"/>
              </a:spcBef>
              <a:spcAft>
                <a:spcPts val="0"/>
              </a:spcAft>
              <a:buNone/>
            </a:pPr>
            <a:r>
              <a:t/>
            </a:r>
            <a:endParaRPr sz="1800">
              <a:solidFill>
                <a:schemeClr val="dk2"/>
              </a:solidFill>
            </a:endParaRPr>
          </a:p>
          <a:p>
            <a:pPr indent="0" lvl="0" marL="0" rtl="0" algn="l">
              <a:spcBef>
                <a:spcPts val="0"/>
              </a:spcBef>
              <a:spcAft>
                <a:spcPts val="0"/>
              </a:spcAft>
              <a:buNone/>
            </a:pPr>
            <a:r>
              <a:t/>
            </a:r>
            <a:endParaRPr sz="1800">
              <a:solidFill>
                <a:schemeClr val="dk2"/>
              </a:solidFill>
            </a:endParaRPr>
          </a:p>
          <a:p>
            <a:pPr indent="0" lvl="0" marL="0" rtl="0" algn="l">
              <a:spcBef>
                <a:spcPts val="0"/>
              </a:spcBef>
              <a:spcAft>
                <a:spcPts val="0"/>
              </a:spcAft>
              <a:buNone/>
            </a:pPr>
            <a:r>
              <a:t/>
            </a:r>
            <a:endParaRPr sz="1800">
              <a:solidFill>
                <a:schemeClr val="dk2"/>
              </a:solidFill>
            </a:endParaRPr>
          </a:p>
          <a:p>
            <a:pPr indent="0" lvl="0" marL="0" rtl="0" algn="l">
              <a:spcBef>
                <a:spcPts val="0"/>
              </a:spcBef>
              <a:spcAft>
                <a:spcPts val="0"/>
              </a:spcAft>
              <a:buNone/>
            </a:pPr>
            <a:r>
              <a:rPr lang="en" sz="1800">
                <a:solidFill>
                  <a:schemeClr val="dk2"/>
                </a:solidFill>
              </a:rPr>
              <a:t>Homework from 2/20/26:</a:t>
            </a:r>
            <a:endParaRPr sz="1800">
              <a:solidFill>
                <a:schemeClr val="dk2"/>
              </a:solidFill>
            </a:endParaRPr>
          </a:p>
          <a:p>
            <a:pPr indent="-342900" lvl="0" marL="457200" rtl="0" algn="l">
              <a:spcBef>
                <a:spcPts val="0"/>
              </a:spcBef>
              <a:spcAft>
                <a:spcPts val="0"/>
              </a:spcAft>
              <a:buClr>
                <a:schemeClr val="dk2"/>
              </a:buClr>
              <a:buSzPts val="1800"/>
              <a:buChar char="●"/>
            </a:pPr>
            <a:r>
              <a:rPr lang="en" sz="1800">
                <a:solidFill>
                  <a:schemeClr val="dk2"/>
                </a:solidFill>
              </a:rPr>
              <a:t>Review outcomes for various degrees in TCE</a:t>
            </a:r>
            <a:endParaRPr sz="1800">
              <a:solidFill>
                <a:schemeClr val="dk2"/>
              </a:solidFill>
            </a:endParaRPr>
          </a:p>
          <a:p>
            <a:pPr indent="-342900" lvl="1" marL="914400" rtl="0" algn="l">
              <a:spcBef>
                <a:spcPts val="0"/>
              </a:spcBef>
              <a:spcAft>
                <a:spcPts val="0"/>
              </a:spcAft>
              <a:buClr>
                <a:schemeClr val="dk2"/>
              </a:buClr>
              <a:buSzPts val="1800"/>
              <a:buChar char="○"/>
            </a:pPr>
            <a:r>
              <a:rPr lang="en" sz="1800" u="sng">
                <a:solidFill>
                  <a:schemeClr val="hlink"/>
                </a:solidFill>
                <a:hlinkClick r:id="rId3"/>
              </a:rPr>
              <a:t>https://miamioh.edu/academic-affairs/learning-outcomes/ehs-outcomes.html</a:t>
            </a:r>
            <a:endParaRPr sz="1800">
              <a:solidFill>
                <a:schemeClr val="dk2"/>
              </a:solidFill>
            </a:endParaRPr>
          </a:p>
          <a:p>
            <a:pPr indent="-342900" lvl="0" marL="457200" rtl="0" algn="l">
              <a:spcBef>
                <a:spcPts val="0"/>
              </a:spcBef>
              <a:spcAft>
                <a:spcPts val="0"/>
              </a:spcAft>
              <a:buClr>
                <a:schemeClr val="dk2"/>
              </a:buClr>
              <a:buSzPts val="1800"/>
              <a:buChar char="●"/>
            </a:pPr>
            <a:r>
              <a:rPr lang="en" sz="1800">
                <a:solidFill>
                  <a:schemeClr val="dk2"/>
                </a:solidFill>
              </a:rPr>
              <a:t>Feb 23 update:</a:t>
            </a:r>
            <a:endParaRPr sz="1800">
              <a:solidFill>
                <a:schemeClr val="dk2"/>
              </a:solidFill>
            </a:endParaRPr>
          </a:p>
          <a:p>
            <a:pPr indent="-342900" lvl="1" marL="914400" rtl="0" algn="l">
              <a:spcBef>
                <a:spcPts val="0"/>
              </a:spcBef>
              <a:spcAft>
                <a:spcPts val="0"/>
              </a:spcAft>
              <a:buClr>
                <a:schemeClr val="dk2"/>
              </a:buClr>
              <a:buSzPts val="1800"/>
              <a:buChar char="○"/>
            </a:pPr>
            <a:r>
              <a:rPr lang="en" sz="1800">
                <a:solidFill>
                  <a:schemeClr val="dk2"/>
                </a:solidFill>
              </a:rPr>
              <a:t>Answer the </a:t>
            </a:r>
            <a:r>
              <a:rPr lang="en" sz="1800" u="sng">
                <a:solidFill>
                  <a:schemeClr val="hlink"/>
                </a:solidFill>
                <a:hlinkClick r:id="rId4"/>
              </a:rPr>
              <a:t>4 questions</a:t>
            </a:r>
            <a:endParaRPr sz="1800">
              <a:solidFill>
                <a:schemeClr val="dk2"/>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